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grandir Bold" charset="1" panose="00000800000000000000"/>
      <p:regular r:id="rId14"/>
    </p:embeddedFont>
    <p:embeddedFont>
      <p:font typeface="Agrandir"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jpe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060749" y="8520545"/>
            <a:ext cx="16230600" cy="1475509"/>
          </a:xfrm>
          <a:custGeom>
            <a:avLst/>
            <a:gdLst/>
            <a:ahLst/>
            <a:cxnLst/>
            <a:rect r="r" b="b" t="t" l="l"/>
            <a:pathLst>
              <a:path h="1475509" w="16230600">
                <a:moveTo>
                  <a:pt x="0" y="0"/>
                </a:moveTo>
                <a:lnTo>
                  <a:pt x="16230600" y="0"/>
                </a:lnTo>
                <a:lnTo>
                  <a:pt x="16230600" y="1475510"/>
                </a:lnTo>
                <a:lnTo>
                  <a:pt x="0" y="1475510"/>
                </a:lnTo>
                <a:lnTo>
                  <a:pt x="0" y="0"/>
                </a:lnTo>
                <a:close/>
              </a:path>
            </a:pathLst>
          </a:custGeom>
          <a:blipFill>
            <a:blip r:embed="rId3"/>
            <a:stretch>
              <a:fillRect l="0" t="0" r="0" b="0"/>
            </a:stretch>
          </a:blipFill>
        </p:spPr>
      </p:sp>
      <p:grpSp>
        <p:nvGrpSpPr>
          <p:cNvPr name="Group 4" id="4"/>
          <p:cNvGrpSpPr/>
          <p:nvPr/>
        </p:nvGrpSpPr>
        <p:grpSpPr>
          <a:xfrm rot="0">
            <a:off x="1286585" y="870740"/>
            <a:ext cx="15778927" cy="8387560"/>
            <a:chOff x="0" y="0"/>
            <a:chExt cx="1529063" cy="812800"/>
          </a:xfrm>
        </p:grpSpPr>
        <p:sp>
          <p:nvSpPr>
            <p:cNvPr name="Freeform 5" id="5"/>
            <p:cNvSpPr/>
            <p:nvPr/>
          </p:nvSpPr>
          <p:spPr>
            <a:xfrm flipH="false" flipV="false" rot="0">
              <a:off x="0" y="0"/>
              <a:ext cx="1529063" cy="812800"/>
            </a:xfrm>
            <a:custGeom>
              <a:avLst/>
              <a:gdLst/>
              <a:ahLst/>
              <a:cxnLst/>
              <a:rect r="r" b="b" t="t" l="l"/>
              <a:pathLst>
                <a:path h="812800" w="1529063">
                  <a:moveTo>
                    <a:pt x="11285" y="0"/>
                  </a:moveTo>
                  <a:lnTo>
                    <a:pt x="1517778" y="0"/>
                  </a:lnTo>
                  <a:cubicBezTo>
                    <a:pt x="1520772" y="0"/>
                    <a:pt x="1523642" y="1189"/>
                    <a:pt x="1525758" y="3305"/>
                  </a:cubicBezTo>
                  <a:cubicBezTo>
                    <a:pt x="1527874" y="5422"/>
                    <a:pt x="1529063" y="8292"/>
                    <a:pt x="1529063" y="11285"/>
                  </a:cubicBezTo>
                  <a:lnTo>
                    <a:pt x="1529063" y="801515"/>
                  </a:lnTo>
                  <a:cubicBezTo>
                    <a:pt x="1529063" y="807748"/>
                    <a:pt x="1524011" y="812800"/>
                    <a:pt x="1517778" y="812800"/>
                  </a:cubicBezTo>
                  <a:lnTo>
                    <a:pt x="11285" y="812800"/>
                  </a:lnTo>
                  <a:cubicBezTo>
                    <a:pt x="8292" y="812800"/>
                    <a:pt x="5422" y="811611"/>
                    <a:pt x="3305" y="809495"/>
                  </a:cubicBezTo>
                  <a:cubicBezTo>
                    <a:pt x="1189" y="807378"/>
                    <a:pt x="0" y="804508"/>
                    <a:pt x="0" y="801515"/>
                  </a:cubicBezTo>
                  <a:lnTo>
                    <a:pt x="0" y="11285"/>
                  </a:lnTo>
                  <a:cubicBezTo>
                    <a:pt x="0" y="8292"/>
                    <a:pt x="1189" y="5422"/>
                    <a:pt x="3305" y="3305"/>
                  </a:cubicBezTo>
                  <a:cubicBezTo>
                    <a:pt x="5422" y="1189"/>
                    <a:pt x="8292" y="0"/>
                    <a:pt x="11285" y="0"/>
                  </a:cubicBezTo>
                  <a:close/>
                </a:path>
              </a:pathLst>
            </a:custGeom>
            <a:blipFill>
              <a:blip r:embed="rId4"/>
              <a:stretch>
                <a:fillRect l="0" t="-12786" r="0" b="-12786"/>
              </a:stretch>
            </a:blipFill>
            <a:ln w="28575" cap="rnd">
              <a:gradFill>
                <a:gsLst>
                  <a:gs pos="0">
                    <a:srgbClr val="FFFFFF">
                      <a:alpha val="100000"/>
                    </a:srgbClr>
                  </a:gs>
                  <a:gs pos="100000">
                    <a:srgbClr val="9B9B9B">
                      <a:alpha val="100000"/>
                    </a:srgbClr>
                  </a:gs>
                </a:gsLst>
                <a:lin ang="0"/>
              </a:gradFill>
              <a:prstDash val="solid"/>
              <a:round/>
            </a:ln>
          </p:spPr>
        </p:sp>
      </p:grpSp>
      <p:grpSp>
        <p:nvGrpSpPr>
          <p:cNvPr name="Group 6" id="6"/>
          <p:cNvGrpSpPr/>
          <p:nvPr/>
        </p:nvGrpSpPr>
        <p:grpSpPr>
          <a:xfrm rot="0">
            <a:off x="13979413" y="860430"/>
            <a:ext cx="3086100" cy="8397870"/>
            <a:chOff x="0" y="0"/>
            <a:chExt cx="812800" cy="2211785"/>
          </a:xfrm>
        </p:grpSpPr>
        <p:sp>
          <p:nvSpPr>
            <p:cNvPr name="Freeform 7" id="7"/>
            <p:cNvSpPr/>
            <p:nvPr/>
          </p:nvSpPr>
          <p:spPr>
            <a:xfrm flipH="false" flipV="false" rot="0">
              <a:off x="0" y="0"/>
              <a:ext cx="812800" cy="2211785"/>
            </a:xfrm>
            <a:custGeom>
              <a:avLst/>
              <a:gdLst/>
              <a:ahLst/>
              <a:cxnLst/>
              <a:rect r="r" b="b" t="t" l="l"/>
              <a:pathLst>
                <a:path h="2211785" w="812800">
                  <a:moveTo>
                    <a:pt x="65225" y="0"/>
                  </a:moveTo>
                  <a:lnTo>
                    <a:pt x="747575" y="0"/>
                  </a:lnTo>
                  <a:cubicBezTo>
                    <a:pt x="783598" y="0"/>
                    <a:pt x="812800" y="29202"/>
                    <a:pt x="812800" y="65225"/>
                  </a:cubicBezTo>
                  <a:lnTo>
                    <a:pt x="812800" y="2146560"/>
                  </a:lnTo>
                  <a:cubicBezTo>
                    <a:pt x="812800" y="2163859"/>
                    <a:pt x="805928" y="2180449"/>
                    <a:pt x="793696" y="2192681"/>
                  </a:cubicBezTo>
                  <a:cubicBezTo>
                    <a:pt x="781464" y="2204913"/>
                    <a:pt x="764874" y="2211785"/>
                    <a:pt x="747575" y="2211785"/>
                  </a:cubicBezTo>
                  <a:lnTo>
                    <a:pt x="65225" y="2211785"/>
                  </a:lnTo>
                  <a:cubicBezTo>
                    <a:pt x="29202" y="2211785"/>
                    <a:pt x="0" y="2182583"/>
                    <a:pt x="0" y="2146560"/>
                  </a:cubicBezTo>
                  <a:lnTo>
                    <a:pt x="0" y="65225"/>
                  </a:lnTo>
                  <a:cubicBezTo>
                    <a:pt x="0" y="29202"/>
                    <a:pt x="29202" y="0"/>
                    <a:pt x="65225" y="0"/>
                  </a:cubicBezTo>
                  <a:close/>
                </a:path>
              </a:pathLst>
            </a:custGeom>
            <a:gradFill rotWithShape="true">
              <a:gsLst>
                <a:gs pos="0">
                  <a:srgbClr val="FFFFFF">
                    <a:alpha val="15000"/>
                  </a:srgbClr>
                </a:gs>
                <a:gs pos="100000">
                  <a:srgbClr val="9B9B9B">
                    <a:alpha val="17000"/>
                  </a:srgbClr>
                </a:gs>
              </a:gsLst>
              <a:lin ang="0"/>
            </a:gradFill>
            <a:ln w="38100" cap="rnd">
              <a:solidFill>
                <a:srgbClr val="FFFFFF"/>
              </a:solidFill>
              <a:prstDash val="solid"/>
              <a:round/>
            </a:ln>
          </p:spPr>
        </p:sp>
        <p:sp>
          <p:nvSpPr>
            <p:cNvPr name="TextBox 8" id="8"/>
            <p:cNvSpPr txBox="true"/>
            <p:nvPr/>
          </p:nvSpPr>
          <p:spPr>
            <a:xfrm>
              <a:off x="0" y="-85725"/>
              <a:ext cx="812800" cy="2297510"/>
            </a:xfrm>
            <a:prstGeom prst="rect">
              <a:avLst/>
            </a:prstGeom>
          </p:spPr>
          <p:txBody>
            <a:bodyPr anchor="ctr" rtlCol="false" tIns="50800" lIns="50800" bIns="50800" rIns="50800"/>
            <a:lstStyle/>
            <a:p>
              <a:pPr algn="ctr">
                <a:lnSpc>
                  <a:spcPts val="2523"/>
                </a:lnSpc>
              </a:pPr>
            </a:p>
          </p:txBody>
        </p:sp>
      </p:grpSp>
      <p:sp>
        <p:nvSpPr>
          <p:cNvPr name="Freeform 9" id="9"/>
          <p:cNvSpPr/>
          <p:nvPr/>
        </p:nvSpPr>
        <p:spPr>
          <a:xfrm flipH="false" flipV="false" rot="0">
            <a:off x="2958043" y="3447457"/>
            <a:ext cx="669665" cy="998146"/>
          </a:xfrm>
          <a:custGeom>
            <a:avLst/>
            <a:gdLst/>
            <a:ahLst/>
            <a:cxnLst/>
            <a:rect r="r" b="b" t="t" l="l"/>
            <a:pathLst>
              <a:path h="998146" w="669665">
                <a:moveTo>
                  <a:pt x="0" y="0"/>
                </a:moveTo>
                <a:lnTo>
                  <a:pt x="669665" y="0"/>
                </a:lnTo>
                <a:lnTo>
                  <a:pt x="669665" y="998146"/>
                </a:lnTo>
                <a:lnTo>
                  <a:pt x="0" y="9981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2566583" y="4150204"/>
            <a:ext cx="12651075" cy="1605591"/>
          </a:xfrm>
          <a:prstGeom prst="rect">
            <a:avLst/>
          </a:prstGeom>
        </p:spPr>
        <p:txBody>
          <a:bodyPr anchor="t" rtlCol="false" tIns="0" lIns="0" bIns="0" rIns="0">
            <a:spAutoFit/>
          </a:bodyPr>
          <a:lstStyle/>
          <a:p>
            <a:pPr algn="l">
              <a:lnSpc>
                <a:spcPts val="11252"/>
              </a:lnSpc>
              <a:spcBef>
                <a:spcPct val="0"/>
              </a:spcBef>
            </a:pPr>
            <a:r>
              <a:rPr lang="en-US" sz="8037" b="true">
                <a:solidFill>
                  <a:srgbClr val="FFFFFF"/>
                </a:solidFill>
                <a:latin typeface="Agrandir Bold"/>
                <a:ea typeface="Agrandir Bold"/>
                <a:cs typeface="Agrandir Bold"/>
                <a:sym typeface="Agrandir Bold"/>
              </a:rPr>
              <a:t>DSU Hackathon 2026</a:t>
            </a:r>
          </a:p>
        </p:txBody>
      </p:sp>
      <p:sp>
        <p:nvSpPr>
          <p:cNvPr name="TextBox 11" id="11"/>
          <p:cNvSpPr txBox="true"/>
          <p:nvPr/>
        </p:nvSpPr>
        <p:spPr>
          <a:xfrm rot="0">
            <a:off x="2566583" y="5412896"/>
            <a:ext cx="5360001" cy="1419616"/>
          </a:xfrm>
          <a:prstGeom prst="rect">
            <a:avLst/>
          </a:prstGeom>
        </p:spPr>
        <p:txBody>
          <a:bodyPr anchor="t" rtlCol="false" tIns="0" lIns="0" bIns="0" rIns="0">
            <a:spAutoFit/>
          </a:bodyPr>
          <a:lstStyle/>
          <a:p>
            <a:pPr algn="l">
              <a:lnSpc>
                <a:spcPts val="9953"/>
              </a:lnSpc>
              <a:spcBef>
                <a:spcPct val="0"/>
              </a:spcBef>
            </a:pPr>
            <a:r>
              <a:rPr lang="en-US" sz="7109">
                <a:solidFill>
                  <a:srgbClr val="FFFFFF"/>
                </a:solidFill>
                <a:latin typeface="Agrandir"/>
                <a:ea typeface="Agrandir"/>
                <a:cs typeface="Agrandir"/>
                <a:sym typeface="Agrandir"/>
              </a:rPr>
              <a:t>Team Shark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4EC"/>
        </a:solidFill>
      </p:bgPr>
    </p:bg>
    <p:spTree>
      <p:nvGrpSpPr>
        <p:cNvPr id="1" name=""/>
        <p:cNvGrpSpPr/>
        <p:nvPr/>
      </p:nvGrpSpPr>
      <p:grpSpPr>
        <a:xfrm>
          <a:off x="0" y="0"/>
          <a:ext cx="0" cy="0"/>
          <a:chOff x="0" y="0"/>
          <a:chExt cx="0" cy="0"/>
        </a:xfrm>
      </p:grpSpPr>
      <p:grpSp>
        <p:nvGrpSpPr>
          <p:cNvPr name="Group 2" id="2"/>
          <p:cNvGrpSpPr/>
          <p:nvPr/>
        </p:nvGrpSpPr>
        <p:grpSpPr>
          <a:xfrm rot="0">
            <a:off x="-514350" y="2521881"/>
            <a:ext cx="7162455" cy="5433573"/>
            <a:chOff x="0" y="0"/>
            <a:chExt cx="1886408" cy="1431064"/>
          </a:xfrm>
        </p:grpSpPr>
        <p:sp>
          <p:nvSpPr>
            <p:cNvPr name="Freeform 3" id="3"/>
            <p:cNvSpPr/>
            <p:nvPr/>
          </p:nvSpPr>
          <p:spPr>
            <a:xfrm flipH="false" flipV="false" rot="0">
              <a:off x="0" y="0"/>
              <a:ext cx="1886408" cy="1431064"/>
            </a:xfrm>
            <a:custGeom>
              <a:avLst/>
              <a:gdLst/>
              <a:ahLst/>
              <a:cxnLst/>
              <a:rect r="r" b="b" t="t" l="l"/>
              <a:pathLst>
                <a:path h="1431064" w="1886408">
                  <a:moveTo>
                    <a:pt x="55126" y="0"/>
                  </a:moveTo>
                  <a:lnTo>
                    <a:pt x="1831282" y="0"/>
                  </a:lnTo>
                  <a:cubicBezTo>
                    <a:pt x="1861727" y="0"/>
                    <a:pt x="1886408" y="24681"/>
                    <a:pt x="1886408" y="55126"/>
                  </a:cubicBezTo>
                  <a:lnTo>
                    <a:pt x="1886408" y="1375938"/>
                  </a:lnTo>
                  <a:cubicBezTo>
                    <a:pt x="1886408" y="1390559"/>
                    <a:pt x="1880600" y="1404580"/>
                    <a:pt x="1870262" y="1414918"/>
                  </a:cubicBezTo>
                  <a:cubicBezTo>
                    <a:pt x="1859923" y="1425257"/>
                    <a:pt x="1845902" y="1431064"/>
                    <a:pt x="1831282" y="1431064"/>
                  </a:cubicBezTo>
                  <a:lnTo>
                    <a:pt x="55126" y="1431064"/>
                  </a:lnTo>
                  <a:cubicBezTo>
                    <a:pt x="24681" y="1431064"/>
                    <a:pt x="0" y="1406384"/>
                    <a:pt x="0" y="1375938"/>
                  </a:cubicBezTo>
                  <a:lnTo>
                    <a:pt x="0" y="55126"/>
                  </a:lnTo>
                  <a:cubicBezTo>
                    <a:pt x="0" y="24681"/>
                    <a:pt x="24681" y="0"/>
                    <a:pt x="55126" y="0"/>
                  </a:cubicBezTo>
                  <a:close/>
                </a:path>
              </a:pathLst>
            </a:custGeom>
            <a:solidFill>
              <a:srgbClr val="474925"/>
            </a:solidFill>
          </p:spPr>
        </p:sp>
        <p:sp>
          <p:nvSpPr>
            <p:cNvPr name="TextBox 4" id="4"/>
            <p:cNvSpPr txBox="true"/>
            <p:nvPr/>
          </p:nvSpPr>
          <p:spPr>
            <a:xfrm>
              <a:off x="0" y="-66675"/>
              <a:ext cx="1886408" cy="1497739"/>
            </a:xfrm>
            <a:prstGeom prst="rect">
              <a:avLst/>
            </a:prstGeom>
          </p:spPr>
          <p:txBody>
            <a:bodyPr anchor="ctr" rtlCol="false" tIns="50800" lIns="50800" bIns="50800" rIns="50800"/>
            <a:lstStyle/>
            <a:p>
              <a:pPr algn="ctr">
                <a:lnSpc>
                  <a:spcPts val="1963"/>
                </a:lnSpc>
              </a:pPr>
            </a:p>
          </p:txBody>
        </p:sp>
      </p:grpSp>
      <p:grpSp>
        <p:nvGrpSpPr>
          <p:cNvPr name="Group 5" id="5"/>
          <p:cNvGrpSpPr>
            <a:grpSpLocks noChangeAspect="true"/>
          </p:cNvGrpSpPr>
          <p:nvPr/>
        </p:nvGrpSpPr>
        <p:grpSpPr>
          <a:xfrm rot="0">
            <a:off x="1695136" y="2040511"/>
            <a:ext cx="6205979" cy="6205979"/>
            <a:chOff x="0" y="0"/>
            <a:chExt cx="14840029" cy="14840029"/>
          </a:xfrm>
        </p:grpSpPr>
        <p:sp>
          <p:nvSpPr>
            <p:cNvPr name="Freeform 6" id="6"/>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B2A631"/>
            </a:solidFill>
          </p:spPr>
        </p:sp>
        <p:sp>
          <p:nvSpPr>
            <p:cNvPr name="Freeform 7" id="7"/>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8" id="8"/>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2"/>
              <a:stretch>
                <a:fillRect l="-5129" t="0" r="-5128" b="0"/>
              </a:stretch>
            </a:blipFill>
          </p:spPr>
        </p:sp>
      </p:grpSp>
      <p:sp>
        <p:nvSpPr>
          <p:cNvPr name="TextBox 9" id="9"/>
          <p:cNvSpPr txBox="true"/>
          <p:nvPr/>
        </p:nvSpPr>
        <p:spPr>
          <a:xfrm rot="0">
            <a:off x="6133738" y="1493644"/>
            <a:ext cx="13335601" cy="1029725"/>
          </a:xfrm>
          <a:prstGeom prst="rect">
            <a:avLst/>
          </a:prstGeom>
        </p:spPr>
        <p:txBody>
          <a:bodyPr anchor="t" rtlCol="false" tIns="0" lIns="0" bIns="0" rIns="0">
            <a:spAutoFit/>
          </a:bodyPr>
          <a:lstStyle/>
          <a:p>
            <a:pPr algn="ctr">
              <a:lnSpc>
                <a:spcPts val="7293"/>
              </a:lnSpc>
              <a:spcBef>
                <a:spcPct val="0"/>
              </a:spcBef>
            </a:pPr>
            <a:r>
              <a:rPr lang="en-US" b="true" sz="5209">
                <a:solidFill>
                  <a:srgbClr val="474925"/>
                </a:solidFill>
                <a:latin typeface="Agrandir Bold"/>
                <a:ea typeface="Agrandir Bold"/>
                <a:cs typeface="Agrandir Bold"/>
                <a:sym typeface="Agrandir Bold"/>
              </a:rPr>
              <a:t>User and Problem statement:</a:t>
            </a:r>
          </a:p>
        </p:txBody>
      </p:sp>
      <p:sp>
        <p:nvSpPr>
          <p:cNvPr name="Freeform 10" id="10"/>
          <p:cNvSpPr/>
          <p:nvPr/>
        </p:nvSpPr>
        <p:spPr>
          <a:xfrm flipH="false" flipV="false" rot="0">
            <a:off x="1400120" y="552442"/>
            <a:ext cx="123763" cy="184471"/>
          </a:xfrm>
          <a:custGeom>
            <a:avLst/>
            <a:gdLst/>
            <a:ahLst/>
            <a:cxnLst/>
            <a:rect r="r" b="b" t="t" l="l"/>
            <a:pathLst>
              <a:path h="184471" w="123763">
                <a:moveTo>
                  <a:pt x="0" y="0"/>
                </a:moveTo>
                <a:lnTo>
                  <a:pt x="123763" y="0"/>
                </a:lnTo>
                <a:lnTo>
                  <a:pt x="123763" y="184471"/>
                </a:lnTo>
                <a:lnTo>
                  <a:pt x="0" y="1844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335629" y="622613"/>
            <a:ext cx="3462496" cy="882345"/>
          </a:xfrm>
          <a:prstGeom prst="rect">
            <a:avLst/>
          </a:prstGeom>
        </p:spPr>
        <p:txBody>
          <a:bodyPr anchor="t" rtlCol="false" tIns="0" lIns="0" bIns="0" rIns="0">
            <a:spAutoFit/>
          </a:bodyPr>
          <a:lstStyle/>
          <a:p>
            <a:pPr algn="l">
              <a:lnSpc>
                <a:spcPts val="3269"/>
              </a:lnSpc>
            </a:pPr>
            <a:r>
              <a:rPr lang="en-US" sz="2335" b="true">
                <a:solidFill>
                  <a:srgbClr val="706925"/>
                </a:solidFill>
                <a:latin typeface="Agrandir Bold"/>
                <a:ea typeface="Agrandir Bold"/>
                <a:cs typeface="Agrandir Bold"/>
                <a:sym typeface="Agrandir Bold"/>
              </a:rPr>
              <a:t>DSU Hackathon 2026</a:t>
            </a:r>
          </a:p>
          <a:p>
            <a:pPr algn="l">
              <a:lnSpc>
                <a:spcPts val="3269"/>
              </a:lnSpc>
              <a:spcBef>
                <a:spcPct val="0"/>
              </a:spcBef>
            </a:pPr>
          </a:p>
        </p:txBody>
      </p:sp>
      <p:sp>
        <p:nvSpPr>
          <p:cNvPr name="TextBox 12" id="12"/>
          <p:cNvSpPr txBox="true"/>
          <p:nvPr/>
        </p:nvSpPr>
        <p:spPr>
          <a:xfrm rot="0">
            <a:off x="1335629" y="897015"/>
            <a:ext cx="1760696" cy="468663"/>
          </a:xfrm>
          <a:prstGeom prst="rect">
            <a:avLst/>
          </a:prstGeom>
        </p:spPr>
        <p:txBody>
          <a:bodyPr anchor="t" rtlCol="false" tIns="0" lIns="0" bIns="0" rIns="0">
            <a:spAutoFit/>
          </a:bodyPr>
          <a:lstStyle/>
          <a:p>
            <a:pPr algn="l">
              <a:lnSpc>
                <a:spcPts val="3269"/>
              </a:lnSpc>
              <a:spcBef>
                <a:spcPct val="0"/>
              </a:spcBef>
            </a:pPr>
            <a:r>
              <a:rPr lang="en-US" sz="2335">
                <a:solidFill>
                  <a:srgbClr val="706925"/>
                </a:solidFill>
                <a:latin typeface="Agrandir"/>
                <a:ea typeface="Agrandir"/>
                <a:cs typeface="Agrandir"/>
                <a:sym typeface="Agrandir"/>
              </a:rPr>
              <a:t>Team Shark</a:t>
            </a:r>
          </a:p>
        </p:txBody>
      </p:sp>
      <p:sp>
        <p:nvSpPr>
          <p:cNvPr name="TextBox 13" id="13"/>
          <p:cNvSpPr txBox="true"/>
          <p:nvPr/>
        </p:nvSpPr>
        <p:spPr>
          <a:xfrm rot="0">
            <a:off x="8349890" y="2990094"/>
            <a:ext cx="10408642" cy="1177661"/>
          </a:xfrm>
          <a:prstGeom prst="rect">
            <a:avLst/>
          </a:prstGeom>
        </p:spPr>
        <p:txBody>
          <a:bodyPr anchor="t" rtlCol="false" tIns="0" lIns="0" bIns="0" rIns="0">
            <a:spAutoFit/>
          </a:bodyPr>
          <a:lstStyle/>
          <a:p>
            <a:pPr algn="l">
              <a:lnSpc>
                <a:spcPts val="4389"/>
              </a:lnSpc>
              <a:spcBef>
                <a:spcPct val="0"/>
              </a:spcBef>
            </a:pPr>
            <a:r>
              <a:rPr lang="en-US" b="true" sz="3135">
                <a:solidFill>
                  <a:srgbClr val="706925"/>
                </a:solidFill>
                <a:latin typeface="Agrandir Bold"/>
                <a:ea typeface="Agrandir Bold"/>
                <a:cs typeface="Agrandir Bold"/>
                <a:sym typeface="Agrandir Bold"/>
              </a:rPr>
              <a:t>User:</a:t>
            </a:r>
            <a:r>
              <a:rPr lang="en-US" sz="3135">
                <a:solidFill>
                  <a:srgbClr val="706925"/>
                </a:solidFill>
                <a:latin typeface="Agrandir"/>
                <a:ea typeface="Agrandir"/>
                <a:cs typeface="Agrandir"/>
                <a:sym typeface="Agrandir"/>
              </a:rPr>
              <a:t> Soil and Crop Resilience Planning: Soil conservation office</a:t>
            </a:r>
          </a:p>
        </p:txBody>
      </p:sp>
      <p:sp>
        <p:nvSpPr>
          <p:cNvPr name="TextBox 14" id="14"/>
          <p:cNvSpPr txBox="true"/>
          <p:nvPr/>
        </p:nvSpPr>
        <p:spPr>
          <a:xfrm rot="0">
            <a:off x="8349890" y="4634480"/>
            <a:ext cx="9055695" cy="3874135"/>
          </a:xfrm>
          <a:prstGeom prst="rect">
            <a:avLst/>
          </a:prstGeom>
        </p:spPr>
        <p:txBody>
          <a:bodyPr anchor="t" rtlCol="false" tIns="0" lIns="0" bIns="0" rIns="0">
            <a:spAutoFit/>
          </a:bodyPr>
          <a:lstStyle/>
          <a:p>
            <a:pPr algn="just">
              <a:lnSpc>
                <a:spcPts val="4339"/>
              </a:lnSpc>
              <a:spcBef>
                <a:spcPct val="0"/>
              </a:spcBef>
            </a:pPr>
            <a:r>
              <a:rPr lang="en-US" b="true" sz="3099">
                <a:solidFill>
                  <a:srgbClr val="706925"/>
                </a:solidFill>
                <a:latin typeface="Agrandir Bold"/>
                <a:ea typeface="Agrandir Bold"/>
                <a:cs typeface="Agrandir Bold"/>
                <a:sym typeface="Agrandir Bold"/>
              </a:rPr>
              <a:t>Problem Statement: </a:t>
            </a:r>
            <a:r>
              <a:rPr lang="en-US" sz="3099">
                <a:solidFill>
                  <a:srgbClr val="706925"/>
                </a:solidFill>
                <a:latin typeface="Agrandir"/>
                <a:ea typeface="Agrandir"/>
                <a:cs typeface="Agrandir"/>
                <a:sym typeface="Agrandir"/>
              </a:rPr>
              <a:t>The Soil Conservation Office needs to identify geographic areas where soil conservation efforts should be prioritized because it must direct limited resources toward locations where conservation interventions can most effectively reduce drought-related crop losses.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4EC"/>
        </a:solidFill>
      </p:bgPr>
    </p:bg>
    <p:spTree>
      <p:nvGrpSpPr>
        <p:cNvPr id="1" name=""/>
        <p:cNvGrpSpPr/>
        <p:nvPr/>
      </p:nvGrpSpPr>
      <p:grpSpPr>
        <a:xfrm>
          <a:off x="0" y="0"/>
          <a:ext cx="0" cy="0"/>
          <a:chOff x="0" y="0"/>
          <a:chExt cx="0" cy="0"/>
        </a:xfrm>
      </p:grpSpPr>
      <p:sp>
        <p:nvSpPr>
          <p:cNvPr name="Freeform 2" id="2"/>
          <p:cNvSpPr/>
          <p:nvPr/>
        </p:nvSpPr>
        <p:spPr>
          <a:xfrm flipH="false" flipV="false" rot="0">
            <a:off x="1690184" y="849411"/>
            <a:ext cx="123763" cy="184471"/>
          </a:xfrm>
          <a:custGeom>
            <a:avLst/>
            <a:gdLst/>
            <a:ahLst/>
            <a:cxnLst/>
            <a:rect r="r" b="b" t="t" l="l"/>
            <a:pathLst>
              <a:path h="184471" w="123763">
                <a:moveTo>
                  <a:pt x="0" y="0"/>
                </a:moveTo>
                <a:lnTo>
                  <a:pt x="123763" y="0"/>
                </a:lnTo>
                <a:lnTo>
                  <a:pt x="123763" y="184471"/>
                </a:lnTo>
                <a:lnTo>
                  <a:pt x="0" y="184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397782" y="6214356"/>
            <a:ext cx="13492435" cy="2594649"/>
            <a:chOff x="0" y="0"/>
            <a:chExt cx="2113321" cy="406400"/>
          </a:xfrm>
        </p:grpSpPr>
        <p:sp>
          <p:nvSpPr>
            <p:cNvPr name="Freeform 4" id="4"/>
            <p:cNvSpPr/>
            <p:nvPr/>
          </p:nvSpPr>
          <p:spPr>
            <a:xfrm flipH="false" flipV="false" rot="0">
              <a:off x="0" y="0"/>
              <a:ext cx="2113321" cy="406400"/>
            </a:xfrm>
            <a:custGeom>
              <a:avLst/>
              <a:gdLst/>
              <a:ahLst/>
              <a:cxnLst/>
              <a:rect r="r" b="b" t="t" l="l"/>
              <a:pathLst>
                <a:path h="406400" w="2113321">
                  <a:moveTo>
                    <a:pt x="1910121" y="0"/>
                  </a:moveTo>
                  <a:cubicBezTo>
                    <a:pt x="2022351" y="0"/>
                    <a:pt x="2113321" y="90970"/>
                    <a:pt x="2113321" y="203200"/>
                  </a:cubicBezTo>
                  <a:cubicBezTo>
                    <a:pt x="2113321" y="315430"/>
                    <a:pt x="2022351" y="406400"/>
                    <a:pt x="1910121" y="406400"/>
                  </a:cubicBezTo>
                  <a:lnTo>
                    <a:pt x="203200" y="406400"/>
                  </a:lnTo>
                  <a:cubicBezTo>
                    <a:pt x="90970" y="406400"/>
                    <a:pt x="0" y="315430"/>
                    <a:pt x="0" y="203200"/>
                  </a:cubicBezTo>
                  <a:cubicBezTo>
                    <a:pt x="0" y="90970"/>
                    <a:pt x="90970" y="0"/>
                    <a:pt x="203200" y="0"/>
                  </a:cubicBezTo>
                  <a:lnTo>
                    <a:pt x="1910121" y="0"/>
                  </a:lnTo>
                </a:path>
              </a:pathLst>
            </a:custGeom>
            <a:blipFill>
              <a:blip r:embed="rId4"/>
              <a:stretch>
                <a:fillRect l="0" t="-123228" r="0" b="-123228"/>
              </a:stretch>
            </a:blipFill>
            <a:ln w="28575" cap="sq">
              <a:solidFill>
                <a:srgbClr val="000000"/>
              </a:solidFill>
              <a:prstDash val="solid"/>
              <a:miter/>
            </a:ln>
          </p:spPr>
        </p:sp>
      </p:grpSp>
      <p:sp>
        <p:nvSpPr>
          <p:cNvPr name="TextBox 5" id="5"/>
          <p:cNvSpPr txBox="true"/>
          <p:nvPr/>
        </p:nvSpPr>
        <p:spPr>
          <a:xfrm rot="0">
            <a:off x="1625694" y="904065"/>
            <a:ext cx="3462496" cy="882345"/>
          </a:xfrm>
          <a:prstGeom prst="rect">
            <a:avLst/>
          </a:prstGeom>
        </p:spPr>
        <p:txBody>
          <a:bodyPr anchor="t" rtlCol="false" tIns="0" lIns="0" bIns="0" rIns="0">
            <a:spAutoFit/>
          </a:bodyPr>
          <a:lstStyle/>
          <a:p>
            <a:pPr algn="l">
              <a:lnSpc>
                <a:spcPts val="3269"/>
              </a:lnSpc>
            </a:pPr>
            <a:r>
              <a:rPr lang="en-US" sz="2335" b="true">
                <a:solidFill>
                  <a:srgbClr val="706925"/>
                </a:solidFill>
                <a:latin typeface="Agrandir Bold"/>
                <a:ea typeface="Agrandir Bold"/>
                <a:cs typeface="Agrandir Bold"/>
                <a:sym typeface="Agrandir Bold"/>
              </a:rPr>
              <a:t>DSU Hackathon 2026</a:t>
            </a:r>
          </a:p>
          <a:p>
            <a:pPr algn="l">
              <a:lnSpc>
                <a:spcPts val="3269"/>
              </a:lnSpc>
              <a:spcBef>
                <a:spcPct val="0"/>
              </a:spcBef>
            </a:pPr>
          </a:p>
        </p:txBody>
      </p:sp>
      <p:sp>
        <p:nvSpPr>
          <p:cNvPr name="TextBox 6" id="6"/>
          <p:cNvSpPr txBox="true"/>
          <p:nvPr/>
        </p:nvSpPr>
        <p:spPr>
          <a:xfrm rot="0">
            <a:off x="1625694" y="1193984"/>
            <a:ext cx="1760696" cy="468663"/>
          </a:xfrm>
          <a:prstGeom prst="rect">
            <a:avLst/>
          </a:prstGeom>
        </p:spPr>
        <p:txBody>
          <a:bodyPr anchor="t" rtlCol="false" tIns="0" lIns="0" bIns="0" rIns="0">
            <a:spAutoFit/>
          </a:bodyPr>
          <a:lstStyle/>
          <a:p>
            <a:pPr algn="l">
              <a:lnSpc>
                <a:spcPts val="3269"/>
              </a:lnSpc>
              <a:spcBef>
                <a:spcPct val="0"/>
              </a:spcBef>
            </a:pPr>
            <a:r>
              <a:rPr lang="en-US" sz="2335">
                <a:solidFill>
                  <a:srgbClr val="706925"/>
                </a:solidFill>
                <a:latin typeface="Agrandir"/>
                <a:ea typeface="Agrandir"/>
                <a:cs typeface="Agrandir"/>
                <a:sym typeface="Agrandir"/>
              </a:rPr>
              <a:t>Team Shark</a:t>
            </a:r>
          </a:p>
        </p:txBody>
      </p:sp>
      <p:sp>
        <p:nvSpPr>
          <p:cNvPr name="TextBox 7" id="7"/>
          <p:cNvSpPr txBox="true"/>
          <p:nvPr/>
        </p:nvSpPr>
        <p:spPr>
          <a:xfrm rot="0">
            <a:off x="6464000" y="1679101"/>
            <a:ext cx="5360001" cy="1421669"/>
          </a:xfrm>
          <a:prstGeom prst="rect">
            <a:avLst/>
          </a:prstGeom>
        </p:spPr>
        <p:txBody>
          <a:bodyPr anchor="t" rtlCol="false" tIns="0" lIns="0" bIns="0" rIns="0">
            <a:spAutoFit/>
          </a:bodyPr>
          <a:lstStyle/>
          <a:p>
            <a:pPr algn="l">
              <a:lnSpc>
                <a:spcPts val="9953"/>
              </a:lnSpc>
              <a:spcBef>
                <a:spcPct val="0"/>
              </a:spcBef>
            </a:pPr>
            <a:r>
              <a:rPr lang="en-US" sz="7109" b="true">
                <a:solidFill>
                  <a:srgbClr val="474925"/>
                </a:solidFill>
                <a:latin typeface="Agrandir Bold"/>
                <a:ea typeface="Agrandir Bold"/>
                <a:cs typeface="Agrandir Bold"/>
                <a:sym typeface="Agrandir Bold"/>
              </a:rPr>
              <a:t>Why Iowa?</a:t>
            </a:r>
          </a:p>
        </p:txBody>
      </p:sp>
      <p:sp>
        <p:nvSpPr>
          <p:cNvPr name="TextBox 8" id="8"/>
          <p:cNvSpPr txBox="true"/>
          <p:nvPr/>
        </p:nvSpPr>
        <p:spPr>
          <a:xfrm rot="0">
            <a:off x="3823502" y="3376995"/>
            <a:ext cx="10640996" cy="2437311"/>
          </a:xfrm>
          <a:prstGeom prst="rect">
            <a:avLst/>
          </a:prstGeom>
        </p:spPr>
        <p:txBody>
          <a:bodyPr anchor="t" rtlCol="false" tIns="0" lIns="0" bIns="0" rIns="0">
            <a:spAutoFit/>
          </a:bodyPr>
          <a:lstStyle/>
          <a:p>
            <a:pPr algn="just">
              <a:lnSpc>
                <a:spcPts val="3761"/>
              </a:lnSpc>
              <a:spcBef>
                <a:spcPct val="0"/>
              </a:spcBef>
            </a:pPr>
            <a:r>
              <a:rPr lang="en-US" sz="2686">
                <a:solidFill>
                  <a:srgbClr val="706925"/>
                </a:solidFill>
                <a:latin typeface="Agrandir"/>
                <a:ea typeface="Agrandir"/>
                <a:cs typeface="Agrandir"/>
                <a:sym typeface="Agrandir"/>
              </a:rPr>
              <a:t>We chose Iowa to make our comparison more consistent. By focusing on one state where agriculture is predominantly rainfed, we reduce differences caused by irrigation and varying regional conditions. This helps us focus more directly on how drought and soil characteristics relate to crop yield anomalies.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4EC"/>
        </a:solidFill>
      </p:bgPr>
    </p:bg>
    <p:spTree>
      <p:nvGrpSpPr>
        <p:cNvPr id="1" name=""/>
        <p:cNvGrpSpPr/>
        <p:nvPr/>
      </p:nvGrpSpPr>
      <p:grpSpPr>
        <a:xfrm>
          <a:off x="0" y="0"/>
          <a:ext cx="0" cy="0"/>
          <a:chOff x="0" y="0"/>
          <a:chExt cx="0" cy="0"/>
        </a:xfrm>
      </p:grpSpPr>
      <p:grpSp>
        <p:nvGrpSpPr>
          <p:cNvPr name="Group 2" id="2"/>
          <p:cNvGrpSpPr/>
          <p:nvPr/>
        </p:nvGrpSpPr>
        <p:grpSpPr>
          <a:xfrm rot="0">
            <a:off x="2294967" y="6974077"/>
            <a:ext cx="6289790" cy="1820329"/>
            <a:chOff x="0" y="0"/>
            <a:chExt cx="974453" cy="282017"/>
          </a:xfrm>
        </p:grpSpPr>
        <p:sp>
          <p:nvSpPr>
            <p:cNvPr name="Freeform 3" id="3"/>
            <p:cNvSpPr/>
            <p:nvPr/>
          </p:nvSpPr>
          <p:spPr>
            <a:xfrm flipH="false" flipV="false" rot="0">
              <a:off x="0" y="0"/>
              <a:ext cx="974453" cy="282017"/>
            </a:xfrm>
            <a:custGeom>
              <a:avLst/>
              <a:gdLst/>
              <a:ahLst/>
              <a:cxnLst/>
              <a:rect r="r" b="b" t="t" l="l"/>
              <a:pathLst>
                <a:path h="282017" w="974453">
                  <a:moveTo>
                    <a:pt x="28310" y="0"/>
                  </a:moveTo>
                  <a:lnTo>
                    <a:pt x="946143" y="0"/>
                  </a:lnTo>
                  <a:cubicBezTo>
                    <a:pt x="953651" y="0"/>
                    <a:pt x="960852" y="2983"/>
                    <a:pt x="966161" y="8292"/>
                  </a:cubicBezTo>
                  <a:cubicBezTo>
                    <a:pt x="971470" y="13601"/>
                    <a:pt x="974453" y="20802"/>
                    <a:pt x="974453" y="28310"/>
                  </a:cubicBezTo>
                  <a:lnTo>
                    <a:pt x="974453" y="253707"/>
                  </a:lnTo>
                  <a:cubicBezTo>
                    <a:pt x="974453" y="269342"/>
                    <a:pt x="961778" y="282017"/>
                    <a:pt x="946143" y="282017"/>
                  </a:cubicBezTo>
                  <a:lnTo>
                    <a:pt x="28310" y="282017"/>
                  </a:lnTo>
                  <a:cubicBezTo>
                    <a:pt x="20802" y="282017"/>
                    <a:pt x="13601" y="279034"/>
                    <a:pt x="8292" y="273725"/>
                  </a:cubicBezTo>
                  <a:cubicBezTo>
                    <a:pt x="2983" y="268416"/>
                    <a:pt x="0" y="261215"/>
                    <a:pt x="0" y="253707"/>
                  </a:cubicBezTo>
                  <a:lnTo>
                    <a:pt x="0" y="28310"/>
                  </a:lnTo>
                  <a:cubicBezTo>
                    <a:pt x="0" y="20802"/>
                    <a:pt x="2983" y="13601"/>
                    <a:pt x="8292" y="8292"/>
                  </a:cubicBezTo>
                  <a:cubicBezTo>
                    <a:pt x="13601" y="2983"/>
                    <a:pt x="20802" y="0"/>
                    <a:pt x="28310" y="0"/>
                  </a:cubicBezTo>
                  <a:close/>
                </a:path>
              </a:pathLst>
            </a:custGeom>
            <a:blipFill>
              <a:blip r:embed="rId2"/>
              <a:stretch>
                <a:fillRect l="0" t="-47396" r="0" b="-47396"/>
              </a:stretch>
            </a:blipFill>
            <a:ln w="19050" cap="rnd">
              <a:solidFill>
                <a:srgbClr val="000000"/>
              </a:solidFill>
              <a:prstDash val="solid"/>
              <a:round/>
            </a:ln>
          </p:spPr>
        </p:sp>
      </p:grpSp>
      <p:sp>
        <p:nvSpPr>
          <p:cNvPr name="TextBox 4" id="4"/>
          <p:cNvSpPr txBox="true"/>
          <p:nvPr/>
        </p:nvSpPr>
        <p:spPr>
          <a:xfrm rot="0">
            <a:off x="3891346" y="1696689"/>
            <a:ext cx="10505309" cy="1421669"/>
          </a:xfrm>
          <a:prstGeom prst="rect">
            <a:avLst/>
          </a:prstGeom>
        </p:spPr>
        <p:txBody>
          <a:bodyPr anchor="t" rtlCol="false" tIns="0" lIns="0" bIns="0" rIns="0">
            <a:spAutoFit/>
          </a:bodyPr>
          <a:lstStyle/>
          <a:p>
            <a:pPr algn="l">
              <a:lnSpc>
                <a:spcPts val="9953"/>
              </a:lnSpc>
              <a:spcBef>
                <a:spcPct val="0"/>
              </a:spcBef>
            </a:pPr>
            <a:r>
              <a:rPr lang="en-US" sz="7109" b="true">
                <a:solidFill>
                  <a:srgbClr val="474925"/>
                </a:solidFill>
                <a:latin typeface="Agrandir Bold"/>
                <a:ea typeface="Agrandir Bold"/>
                <a:cs typeface="Agrandir Bold"/>
                <a:sym typeface="Agrandir Bold"/>
              </a:rPr>
              <a:t>What we did and why:</a:t>
            </a:r>
          </a:p>
        </p:txBody>
      </p:sp>
      <p:sp>
        <p:nvSpPr>
          <p:cNvPr name="TextBox 5" id="5"/>
          <p:cNvSpPr txBox="true"/>
          <p:nvPr/>
        </p:nvSpPr>
        <p:spPr>
          <a:xfrm rot="0">
            <a:off x="2294967" y="2604373"/>
            <a:ext cx="13457527" cy="5502909"/>
          </a:xfrm>
          <a:prstGeom prst="rect">
            <a:avLst/>
          </a:prstGeom>
        </p:spPr>
        <p:txBody>
          <a:bodyPr anchor="t" rtlCol="false" tIns="0" lIns="0" bIns="0" rIns="0">
            <a:spAutoFit/>
          </a:bodyPr>
          <a:lstStyle/>
          <a:p>
            <a:pPr algn="just">
              <a:lnSpc>
                <a:spcPts val="4340"/>
              </a:lnSpc>
            </a:pPr>
          </a:p>
          <a:p>
            <a:pPr algn="just">
              <a:lnSpc>
                <a:spcPts val="4340"/>
              </a:lnSpc>
            </a:pPr>
            <a:r>
              <a:rPr lang="en-US" sz="3100">
                <a:solidFill>
                  <a:srgbClr val="706925"/>
                </a:solidFill>
                <a:latin typeface="Agrandir"/>
                <a:ea typeface="Agrandir"/>
                <a:cs typeface="Agrandir"/>
                <a:sym typeface="Agrandir"/>
              </a:rPr>
              <a:t>We developed a data-driven tool to help soil conservation offices identify which Iowa counties should be prioritized for soil conservation efforts. Using county-level crop yield, drought, and soil data from 2000–2025 across 99 Iowa counties, focusing on corn and soybeans, our tool provides specific, evidence-based insights to support informed decisions about where resources may be most beneficial.</a:t>
            </a:r>
          </a:p>
          <a:p>
            <a:pPr algn="just">
              <a:lnSpc>
                <a:spcPts val="4340"/>
              </a:lnSpc>
            </a:pPr>
          </a:p>
          <a:p>
            <a:pPr algn="just">
              <a:lnSpc>
                <a:spcPts val="4340"/>
              </a:lnSpc>
            </a:pPr>
          </a:p>
          <a:p>
            <a:pPr algn="just">
              <a:lnSpc>
                <a:spcPts val="4340"/>
              </a:lnSpc>
              <a:spcBef>
                <a:spcPct val="0"/>
              </a:spcBef>
            </a:pPr>
          </a:p>
        </p:txBody>
      </p:sp>
      <p:grpSp>
        <p:nvGrpSpPr>
          <p:cNvPr name="Group 6" id="6"/>
          <p:cNvGrpSpPr/>
          <p:nvPr/>
        </p:nvGrpSpPr>
        <p:grpSpPr>
          <a:xfrm rot="0">
            <a:off x="9462705" y="6974077"/>
            <a:ext cx="6289790" cy="1820329"/>
            <a:chOff x="0" y="0"/>
            <a:chExt cx="974453" cy="282017"/>
          </a:xfrm>
        </p:grpSpPr>
        <p:sp>
          <p:nvSpPr>
            <p:cNvPr name="Freeform 7" id="7"/>
            <p:cNvSpPr/>
            <p:nvPr/>
          </p:nvSpPr>
          <p:spPr>
            <a:xfrm flipH="false" flipV="false" rot="0">
              <a:off x="0" y="0"/>
              <a:ext cx="974453" cy="282017"/>
            </a:xfrm>
            <a:custGeom>
              <a:avLst/>
              <a:gdLst/>
              <a:ahLst/>
              <a:cxnLst/>
              <a:rect r="r" b="b" t="t" l="l"/>
              <a:pathLst>
                <a:path h="282017" w="974453">
                  <a:moveTo>
                    <a:pt x="28310" y="0"/>
                  </a:moveTo>
                  <a:lnTo>
                    <a:pt x="946143" y="0"/>
                  </a:lnTo>
                  <a:cubicBezTo>
                    <a:pt x="953651" y="0"/>
                    <a:pt x="960852" y="2983"/>
                    <a:pt x="966161" y="8292"/>
                  </a:cubicBezTo>
                  <a:cubicBezTo>
                    <a:pt x="971470" y="13601"/>
                    <a:pt x="974453" y="20802"/>
                    <a:pt x="974453" y="28310"/>
                  </a:cubicBezTo>
                  <a:lnTo>
                    <a:pt x="974453" y="253707"/>
                  </a:lnTo>
                  <a:cubicBezTo>
                    <a:pt x="974453" y="269342"/>
                    <a:pt x="961778" y="282017"/>
                    <a:pt x="946143" y="282017"/>
                  </a:cubicBezTo>
                  <a:lnTo>
                    <a:pt x="28310" y="282017"/>
                  </a:lnTo>
                  <a:cubicBezTo>
                    <a:pt x="20802" y="282017"/>
                    <a:pt x="13601" y="279034"/>
                    <a:pt x="8292" y="273725"/>
                  </a:cubicBezTo>
                  <a:cubicBezTo>
                    <a:pt x="2983" y="268416"/>
                    <a:pt x="0" y="261215"/>
                    <a:pt x="0" y="253707"/>
                  </a:cubicBezTo>
                  <a:lnTo>
                    <a:pt x="0" y="28310"/>
                  </a:lnTo>
                  <a:cubicBezTo>
                    <a:pt x="0" y="20802"/>
                    <a:pt x="2983" y="13601"/>
                    <a:pt x="8292" y="8292"/>
                  </a:cubicBezTo>
                  <a:cubicBezTo>
                    <a:pt x="13601" y="2983"/>
                    <a:pt x="20802" y="0"/>
                    <a:pt x="28310" y="0"/>
                  </a:cubicBezTo>
                  <a:close/>
                </a:path>
              </a:pathLst>
            </a:custGeom>
            <a:blipFill>
              <a:blip r:embed="rId3"/>
              <a:stretch>
                <a:fillRect l="0" t="-47180" r="0" b="-47180"/>
              </a:stretch>
            </a:blipFill>
            <a:ln w="19050" cap="rnd">
              <a:solidFill>
                <a:srgbClr val="000000"/>
              </a:solidFill>
              <a:prstDash val="solid"/>
              <a:round/>
            </a:ln>
          </p:spPr>
        </p:sp>
      </p:grpSp>
      <p:sp>
        <p:nvSpPr>
          <p:cNvPr name="Freeform 8" id="8"/>
          <p:cNvSpPr/>
          <p:nvPr/>
        </p:nvSpPr>
        <p:spPr>
          <a:xfrm flipH="false" flipV="false" rot="0">
            <a:off x="1479110" y="779771"/>
            <a:ext cx="123763" cy="184471"/>
          </a:xfrm>
          <a:custGeom>
            <a:avLst/>
            <a:gdLst/>
            <a:ahLst/>
            <a:cxnLst/>
            <a:rect r="r" b="b" t="t" l="l"/>
            <a:pathLst>
              <a:path h="184471" w="123763">
                <a:moveTo>
                  <a:pt x="0" y="0"/>
                </a:moveTo>
                <a:lnTo>
                  <a:pt x="123763" y="0"/>
                </a:lnTo>
                <a:lnTo>
                  <a:pt x="123763" y="184471"/>
                </a:lnTo>
                <a:lnTo>
                  <a:pt x="0" y="184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414619" y="849942"/>
            <a:ext cx="3462496" cy="882345"/>
          </a:xfrm>
          <a:prstGeom prst="rect">
            <a:avLst/>
          </a:prstGeom>
        </p:spPr>
        <p:txBody>
          <a:bodyPr anchor="t" rtlCol="false" tIns="0" lIns="0" bIns="0" rIns="0">
            <a:spAutoFit/>
          </a:bodyPr>
          <a:lstStyle/>
          <a:p>
            <a:pPr algn="l">
              <a:lnSpc>
                <a:spcPts val="3269"/>
              </a:lnSpc>
            </a:pPr>
            <a:r>
              <a:rPr lang="en-US" sz="2335" b="true">
                <a:solidFill>
                  <a:srgbClr val="706925"/>
                </a:solidFill>
                <a:latin typeface="Agrandir Bold"/>
                <a:ea typeface="Agrandir Bold"/>
                <a:cs typeface="Agrandir Bold"/>
                <a:sym typeface="Agrandir Bold"/>
              </a:rPr>
              <a:t>DSU Hackathon 2026</a:t>
            </a:r>
          </a:p>
          <a:p>
            <a:pPr algn="l">
              <a:lnSpc>
                <a:spcPts val="3269"/>
              </a:lnSpc>
              <a:spcBef>
                <a:spcPct val="0"/>
              </a:spcBef>
            </a:pPr>
          </a:p>
        </p:txBody>
      </p:sp>
      <p:sp>
        <p:nvSpPr>
          <p:cNvPr name="TextBox 10" id="10"/>
          <p:cNvSpPr txBox="true"/>
          <p:nvPr/>
        </p:nvSpPr>
        <p:spPr>
          <a:xfrm rot="0">
            <a:off x="1414619" y="1124344"/>
            <a:ext cx="1760696" cy="468663"/>
          </a:xfrm>
          <a:prstGeom prst="rect">
            <a:avLst/>
          </a:prstGeom>
        </p:spPr>
        <p:txBody>
          <a:bodyPr anchor="t" rtlCol="false" tIns="0" lIns="0" bIns="0" rIns="0">
            <a:spAutoFit/>
          </a:bodyPr>
          <a:lstStyle/>
          <a:p>
            <a:pPr algn="l">
              <a:lnSpc>
                <a:spcPts val="3269"/>
              </a:lnSpc>
              <a:spcBef>
                <a:spcPct val="0"/>
              </a:spcBef>
            </a:pPr>
            <a:r>
              <a:rPr lang="en-US" sz="2335">
                <a:solidFill>
                  <a:srgbClr val="706925"/>
                </a:solidFill>
                <a:latin typeface="Agrandir"/>
                <a:ea typeface="Agrandir"/>
                <a:cs typeface="Agrandir"/>
                <a:sym typeface="Agrandir"/>
              </a:rPr>
              <a:t>Team Shark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4EC"/>
        </a:solidFill>
      </p:bgPr>
    </p:bg>
    <p:spTree>
      <p:nvGrpSpPr>
        <p:cNvPr id="1" name=""/>
        <p:cNvGrpSpPr/>
        <p:nvPr/>
      </p:nvGrpSpPr>
      <p:grpSpPr>
        <a:xfrm>
          <a:off x="0" y="0"/>
          <a:ext cx="0" cy="0"/>
          <a:chOff x="0" y="0"/>
          <a:chExt cx="0" cy="0"/>
        </a:xfrm>
      </p:grpSpPr>
      <p:sp>
        <p:nvSpPr>
          <p:cNvPr name="Freeform 2" id="2"/>
          <p:cNvSpPr/>
          <p:nvPr/>
        </p:nvSpPr>
        <p:spPr>
          <a:xfrm flipH="false" flipV="false" rot="0">
            <a:off x="16424188" y="8588316"/>
            <a:ext cx="311845" cy="311845"/>
          </a:xfrm>
          <a:custGeom>
            <a:avLst/>
            <a:gdLst/>
            <a:ahLst/>
            <a:cxnLst/>
            <a:rect r="r" b="b" t="t" l="l"/>
            <a:pathLst>
              <a:path h="311845" w="311845">
                <a:moveTo>
                  <a:pt x="0" y="0"/>
                </a:moveTo>
                <a:lnTo>
                  <a:pt x="311845" y="0"/>
                </a:lnTo>
                <a:lnTo>
                  <a:pt x="311845" y="311845"/>
                </a:lnTo>
                <a:lnTo>
                  <a:pt x="0" y="3118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60415" y="3846895"/>
            <a:ext cx="8789076" cy="5411405"/>
          </a:xfrm>
          <a:prstGeom prst="rect">
            <a:avLst/>
          </a:prstGeom>
        </p:spPr>
        <p:txBody>
          <a:bodyPr anchor="t" rtlCol="false" tIns="0" lIns="0" bIns="0" rIns="0">
            <a:spAutoFit/>
          </a:bodyPr>
          <a:lstStyle/>
          <a:p>
            <a:pPr algn="just" marL="518707" indent="-259354" lvl="1">
              <a:lnSpc>
                <a:spcPts val="3363"/>
              </a:lnSpc>
              <a:buFont typeface="Arial"/>
              <a:buChar char="•"/>
            </a:pPr>
            <a:r>
              <a:rPr lang="en-US" b="true" sz="2402">
                <a:solidFill>
                  <a:srgbClr val="706925"/>
                </a:solidFill>
                <a:latin typeface="Agrandir Bold"/>
                <a:ea typeface="Agrandir Bold"/>
                <a:cs typeface="Agrandir Bold"/>
                <a:sym typeface="Agrandir Bold"/>
              </a:rPr>
              <a:t>Real data</a:t>
            </a:r>
            <a:r>
              <a:rPr lang="en-US" sz="2402">
                <a:solidFill>
                  <a:srgbClr val="706925"/>
                </a:solidFill>
                <a:latin typeface="Agrandir"/>
                <a:ea typeface="Agrandir"/>
                <a:cs typeface="Agrandir"/>
                <a:sym typeface="Agrandir"/>
              </a:rPr>
              <a:t>: County-level agricultural data from 2000–2025.</a:t>
            </a:r>
          </a:p>
          <a:p>
            <a:pPr algn="just" marL="518707" indent="-259354" lvl="1">
              <a:lnSpc>
                <a:spcPts val="3363"/>
              </a:lnSpc>
              <a:buFont typeface="Arial"/>
              <a:buChar char="•"/>
            </a:pPr>
            <a:r>
              <a:rPr lang="en-US" b="true" sz="2402">
                <a:solidFill>
                  <a:srgbClr val="706925"/>
                </a:solidFill>
                <a:latin typeface="Agrandir Bold"/>
                <a:ea typeface="Agrandir Bold"/>
                <a:cs typeface="Agrandir Bold"/>
                <a:sym typeface="Agrandir Bold"/>
              </a:rPr>
              <a:t>Focused analysis:</a:t>
            </a:r>
            <a:r>
              <a:rPr lang="en-US" sz="2402">
                <a:solidFill>
                  <a:srgbClr val="706925"/>
                </a:solidFill>
                <a:latin typeface="Agrandir"/>
                <a:ea typeface="Agrandir"/>
                <a:cs typeface="Agrandir"/>
                <a:sym typeface="Agrandir"/>
              </a:rPr>
              <a:t> Iowa reduces regional differences and irrigation-related confounding.</a:t>
            </a:r>
          </a:p>
          <a:p>
            <a:pPr algn="just" marL="518707" indent="-259354" lvl="1">
              <a:lnSpc>
                <a:spcPts val="3363"/>
              </a:lnSpc>
              <a:buFont typeface="Arial"/>
              <a:buChar char="•"/>
            </a:pPr>
            <a:r>
              <a:rPr lang="en-US" b="true" sz="2402">
                <a:solidFill>
                  <a:srgbClr val="706925"/>
                </a:solidFill>
                <a:latin typeface="Agrandir Bold"/>
                <a:ea typeface="Agrandir Bold"/>
                <a:cs typeface="Agrandir Bold"/>
                <a:sym typeface="Agrandir Bold"/>
              </a:rPr>
              <a:t>Evidence-based comparisons:</a:t>
            </a:r>
            <a:r>
              <a:rPr lang="en-US" sz="2402">
                <a:solidFill>
                  <a:srgbClr val="706925"/>
                </a:solidFill>
                <a:latin typeface="Agrandir"/>
                <a:ea typeface="Agrandir"/>
                <a:cs typeface="Agrandir"/>
                <a:sym typeface="Agrandir"/>
              </a:rPr>
              <a:t> Compare drought-year crop losses across low- and high-soil-water-storage counties.</a:t>
            </a:r>
          </a:p>
          <a:p>
            <a:pPr algn="just" marL="540297" indent="-270148" lvl="1">
              <a:lnSpc>
                <a:spcPts val="3503"/>
              </a:lnSpc>
              <a:buFont typeface="Arial"/>
              <a:buChar char="•"/>
            </a:pPr>
            <a:r>
              <a:rPr lang="en-US" b="true" sz="2502">
                <a:solidFill>
                  <a:srgbClr val="706925"/>
                </a:solidFill>
                <a:latin typeface="Agrandir Bold"/>
                <a:ea typeface="Agrandir Bold"/>
                <a:cs typeface="Agrandir Bold"/>
                <a:sym typeface="Agrandir Bold"/>
              </a:rPr>
              <a:t>Transparent &amp; tested: </a:t>
            </a:r>
            <a:r>
              <a:rPr lang="en-US" sz="2502">
                <a:solidFill>
                  <a:srgbClr val="706925"/>
                </a:solidFill>
                <a:latin typeface="Agrandir"/>
                <a:ea typeface="Agrandir"/>
                <a:cs typeface="Agrandir"/>
                <a:sym typeface="Agrandir"/>
              </a:rPr>
              <a:t>Measure uncertainty and test findings on unseen years.</a:t>
            </a:r>
          </a:p>
          <a:p>
            <a:pPr algn="just" marL="518707" indent="-259354" lvl="1">
              <a:lnSpc>
                <a:spcPts val="3363"/>
              </a:lnSpc>
              <a:buFont typeface="Arial"/>
              <a:buChar char="•"/>
            </a:pPr>
            <a:r>
              <a:rPr lang="en-US" b="true" sz="2402">
                <a:solidFill>
                  <a:srgbClr val="706925"/>
                </a:solidFill>
                <a:latin typeface="Agrandir Bold"/>
                <a:ea typeface="Agrandir Bold"/>
                <a:cs typeface="Agrandir Bold"/>
                <a:sym typeface="Agrandir Bold"/>
              </a:rPr>
              <a:t>Honest limitations:</a:t>
            </a:r>
            <a:r>
              <a:rPr lang="en-US" sz="2402">
                <a:solidFill>
                  <a:srgbClr val="706925"/>
                </a:solidFill>
                <a:latin typeface="Agrandir"/>
                <a:ea typeface="Agrandir"/>
                <a:cs typeface="Agrandir"/>
                <a:sym typeface="Agrandir"/>
              </a:rPr>
              <a:t> Correlation doesn’t prove causation.</a:t>
            </a:r>
          </a:p>
          <a:p>
            <a:pPr algn="just">
              <a:lnSpc>
                <a:spcPts val="3083"/>
              </a:lnSpc>
            </a:pPr>
          </a:p>
          <a:p>
            <a:pPr algn="just">
              <a:lnSpc>
                <a:spcPts val="3083"/>
              </a:lnSpc>
            </a:pPr>
          </a:p>
          <a:p>
            <a:pPr algn="just">
              <a:lnSpc>
                <a:spcPts val="2803"/>
              </a:lnSpc>
              <a:spcBef>
                <a:spcPct val="0"/>
              </a:spcBef>
            </a:pPr>
          </a:p>
        </p:txBody>
      </p:sp>
      <p:grpSp>
        <p:nvGrpSpPr>
          <p:cNvPr name="Group 4" id="4"/>
          <p:cNvGrpSpPr/>
          <p:nvPr/>
        </p:nvGrpSpPr>
        <p:grpSpPr>
          <a:xfrm rot="0">
            <a:off x="13062861" y="3847655"/>
            <a:ext cx="20248029" cy="2434609"/>
            <a:chOff x="0" y="0"/>
            <a:chExt cx="5332814" cy="641214"/>
          </a:xfrm>
        </p:grpSpPr>
        <p:sp>
          <p:nvSpPr>
            <p:cNvPr name="Freeform 5" id="5"/>
            <p:cNvSpPr/>
            <p:nvPr/>
          </p:nvSpPr>
          <p:spPr>
            <a:xfrm flipH="false" flipV="false" rot="0">
              <a:off x="0" y="0"/>
              <a:ext cx="5332814" cy="641214"/>
            </a:xfrm>
            <a:custGeom>
              <a:avLst/>
              <a:gdLst/>
              <a:ahLst/>
              <a:cxnLst/>
              <a:rect r="r" b="b" t="t" l="l"/>
              <a:pathLst>
                <a:path h="641214" w="5332814">
                  <a:moveTo>
                    <a:pt x="19500" y="0"/>
                  </a:moveTo>
                  <a:lnTo>
                    <a:pt x="5313314" y="0"/>
                  </a:lnTo>
                  <a:cubicBezTo>
                    <a:pt x="5324084" y="0"/>
                    <a:pt x="5332814" y="8730"/>
                    <a:pt x="5332814" y="19500"/>
                  </a:cubicBezTo>
                  <a:lnTo>
                    <a:pt x="5332814" y="621714"/>
                  </a:lnTo>
                  <a:cubicBezTo>
                    <a:pt x="5332814" y="632483"/>
                    <a:pt x="5324084" y="641214"/>
                    <a:pt x="5313314" y="641214"/>
                  </a:cubicBezTo>
                  <a:lnTo>
                    <a:pt x="19500" y="641214"/>
                  </a:lnTo>
                  <a:cubicBezTo>
                    <a:pt x="8730" y="641214"/>
                    <a:pt x="0" y="632483"/>
                    <a:pt x="0" y="621714"/>
                  </a:cubicBezTo>
                  <a:lnTo>
                    <a:pt x="0" y="19500"/>
                  </a:lnTo>
                  <a:cubicBezTo>
                    <a:pt x="0" y="8730"/>
                    <a:pt x="8730" y="0"/>
                    <a:pt x="19500" y="0"/>
                  </a:cubicBezTo>
                  <a:close/>
                </a:path>
              </a:pathLst>
            </a:custGeom>
            <a:solidFill>
              <a:srgbClr val="474925"/>
            </a:solidFill>
          </p:spPr>
        </p:sp>
        <p:sp>
          <p:nvSpPr>
            <p:cNvPr name="TextBox 6" id="6"/>
            <p:cNvSpPr txBox="true"/>
            <p:nvPr/>
          </p:nvSpPr>
          <p:spPr>
            <a:xfrm>
              <a:off x="0" y="-66675"/>
              <a:ext cx="5332814" cy="707889"/>
            </a:xfrm>
            <a:prstGeom prst="rect">
              <a:avLst/>
            </a:prstGeom>
          </p:spPr>
          <p:txBody>
            <a:bodyPr anchor="ctr" rtlCol="false" tIns="50800" lIns="50800" bIns="50800" rIns="50800"/>
            <a:lstStyle/>
            <a:p>
              <a:pPr algn="ctr">
                <a:lnSpc>
                  <a:spcPts val="1963"/>
                </a:lnSpc>
              </a:pPr>
            </a:p>
          </p:txBody>
        </p:sp>
      </p:grpSp>
      <p:grpSp>
        <p:nvGrpSpPr>
          <p:cNvPr name="Group 7" id="7"/>
          <p:cNvGrpSpPr/>
          <p:nvPr/>
        </p:nvGrpSpPr>
        <p:grpSpPr>
          <a:xfrm rot="0">
            <a:off x="10528460" y="3847655"/>
            <a:ext cx="4659502" cy="2434609"/>
            <a:chOff x="0" y="0"/>
            <a:chExt cx="721879" cy="377185"/>
          </a:xfrm>
        </p:grpSpPr>
        <p:sp>
          <p:nvSpPr>
            <p:cNvPr name="Freeform 8" id="8"/>
            <p:cNvSpPr/>
            <p:nvPr/>
          </p:nvSpPr>
          <p:spPr>
            <a:xfrm flipH="false" flipV="false" rot="0">
              <a:off x="0" y="0"/>
              <a:ext cx="721879" cy="377185"/>
            </a:xfrm>
            <a:custGeom>
              <a:avLst/>
              <a:gdLst/>
              <a:ahLst/>
              <a:cxnLst/>
              <a:rect r="r" b="b" t="t" l="l"/>
              <a:pathLst>
                <a:path h="377185" w="721879">
                  <a:moveTo>
                    <a:pt x="38215" y="0"/>
                  </a:moveTo>
                  <a:lnTo>
                    <a:pt x="683664" y="0"/>
                  </a:lnTo>
                  <a:cubicBezTo>
                    <a:pt x="693799" y="0"/>
                    <a:pt x="703519" y="4026"/>
                    <a:pt x="710686" y="11193"/>
                  </a:cubicBezTo>
                  <a:cubicBezTo>
                    <a:pt x="717853" y="18360"/>
                    <a:pt x="721879" y="28080"/>
                    <a:pt x="721879" y="38215"/>
                  </a:cubicBezTo>
                  <a:lnTo>
                    <a:pt x="721879" y="338969"/>
                  </a:lnTo>
                  <a:cubicBezTo>
                    <a:pt x="721879" y="349105"/>
                    <a:pt x="717853" y="358825"/>
                    <a:pt x="710686" y="365992"/>
                  </a:cubicBezTo>
                  <a:cubicBezTo>
                    <a:pt x="703519" y="373158"/>
                    <a:pt x="693799" y="377185"/>
                    <a:pt x="683664" y="377185"/>
                  </a:cubicBezTo>
                  <a:lnTo>
                    <a:pt x="38215" y="377185"/>
                  </a:lnTo>
                  <a:cubicBezTo>
                    <a:pt x="28080" y="377185"/>
                    <a:pt x="18360" y="373158"/>
                    <a:pt x="11193" y="365992"/>
                  </a:cubicBezTo>
                  <a:cubicBezTo>
                    <a:pt x="4026" y="358825"/>
                    <a:pt x="0" y="349105"/>
                    <a:pt x="0" y="338969"/>
                  </a:cubicBezTo>
                  <a:lnTo>
                    <a:pt x="0" y="38215"/>
                  </a:lnTo>
                  <a:cubicBezTo>
                    <a:pt x="0" y="28080"/>
                    <a:pt x="4026" y="18360"/>
                    <a:pt x="11193" y="11193"/>
                  </a:cubicBezTo>
                  <a:cubicBezTo>
                    <a:pt x="18360" y="4026"/>
                    <a:pt x="28080" y="0"/>
                    <a:pt x="38215" y="0"/>
                  </a:cubicBezTo>
                  <a:close/>
                </a:path>
              </a:pathLst>
            </a:custGeom>
            <a:blipFill>
              <a:blip r:embed="rId4"/>
              <a:stretch>
                <a:fillRect l="0" t="-13679" r="0" b="-13679"/>
              </a:stretch>
            </a:blipFill>
            <a:ln w="38100" cap="rnd">
              <a:solidFill>
                <a:srgbClr val="000000"/>
              </a:solidFill>
              <a:prstDash val="solid"/>
              <a:round/>
            </a:ln>
          </p:spPr>
        </p:sp>
      </p:grpSp>
      <p:sp>
        <p:nvSpPr>
          <p:cNvPr name="Freeform 9" id="9"/>
          <p:cNvSpPr/>
          <p:nvPr/>
        </p:nvSpPr>
        <p:spPr>
          <a:xfrm flipH="false" flipV="false" rot="0">
            <a:off x="1479110" y="779771"/>
            <a:ext cx="123763" cy="184471"/>
          </a:xfrm>
          <a:custGeom>
            <a:avLst/>
            <a:gdLst/>
            <a:ahLst/>
            <a:cxnLst/>
            <a:rect r="r" b="b" t="t" l="l"/>
            <a:pathLst>
              <a:path h="184471" w="123763">
                <a:moveTo>
                  <a:pt x="0" y="0"/>
                </a:moveTo>
                <a:lnTo>
                  <a:pt x="123763" y="0"/>
                </a:lnTo>
                <a:lnTo>
                  <a:pt x="123763" y="184471"/>
                </a:lnTo>
                <a:lnTo>
                  <a:pt x="0" y="1844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414619" y="849942"/>
            <a:ext cx="3462496" cy="882345"/>
          </a:xfrm>
          <a:prstGeom prst="rect">
            <a:avLst/>
          </a:prstGeom>
        </p:spPr>
        <p:txBody>
          <a:bodyPr anchor="t" rtlCol="false" tIns="0" lIns="0" bIns="0" rIns="0">
            <a:spAutoFit/>
          </a:bodyPr>
          <a:lstStyle/>
          <a:p>
            <a:pPr algn="l">
              <a:lnSpc>
                <a:spcPts val="3269"/>
              </a:lnSpc>
            </a:pPr>
            <a:r>
              <a:rPr lang="en-US" sz="2335" b="true">
                <a:solidFill>
                  <a:srgbClr val="706925"/>
                </a:solidFill>
                <a:latin typeface="Agrandir Bold"/>
                <a:ea typeface="Agrandir Bold"/>
                <a:cs typeface="Agrandir Bold"/>
                <a:sym typeface="Agrandir Bold"/>
              </a:rPr>
              <a:t>DSU Hackathon 2026</a:t>
            </a:r>
          </a:p>
          <a:p>
            <a:pPr algn="l">
              <a:lnSpc>
                <a:spcPts val="3269"/>
              </a:lnSpc>
              <a:spcBef>
                <a:spcPct val="0"/>
              </a:spcBef>
            </a:pPr>
          </a:p>
        </p:txBody>
      </p:sp>
      <p:sp>
        <p:nvSpPr>
          <p:cNvPr name="TextBox 11" id="11"/>
          <p:cNvSpPr txBox="true"/>
          <p:nvPr/>
        </p:nvSpPr>
        <p:spPr>
          <a:xfrm rot="0">
            <a:off x="1414619" y="1124344"/>
            <a:ext cx="1760696" cy="468663"/>
          </a:xfrm>
          <a:prstGeom prst="rect">
            <a:avLst/>
          </a:prstGeom>
        </p:spPr>
        <p:txBody>
          <a:bodyPr anchor="t" rtlCol="false" tIns="0" lIns="0" bIns="0" rIns="0">
            <a:spAutoFit/>
          </a:bodyPr>
          <a:lstStyle/>
          <a:p>
            <a:pPr algn="l">
              <a:lnSpc>
                <a:spcPts val="3269"/>
              </a:lnSpc>
              <a:spcBef>
                <a:spcPct val="0"/>
              </a:spcBef>
            </a:pPr>
            <a:r>
              <a:rPr lang="en-US" sz="2335">
                <a:solidFill>
                  <a:srgbClr val="706925"/>
                </a:solidFill>
                <a:latin typeface="Agrandir"/>
                <a:ea typeface="Agrandir"/>
                <a:cs typeface="Agrandir"/>
                <a:sym typeface="Agrandir"/>
              </a:rPr>
              <a:t>Team Shark</a:t>
            </a:r>
          </a:p>
        </p:txBody>
      </p:sp>
      <p:sp>
        <p:nvSpPr>
          <p:cNvPr name="TextBox 12" id="12"/>
          <p:cNvSpPr txBox="true"/>
          <p:nvPr/>
        </p:nvSpPr>
        <p:spPr>
          <a:xfrm rot="0">
            <a:off x="863615" y="2317004"/>
            <a:ext cx="8941401" cy="2049145"/>
          </a:xfrm>
          <a:prstGeom prst="rect">
            <a:avLst/>
          </a:prstGeom>
        </p:spPr>
        <p:txBody>
          <a:bodyPr anchor="t" rtlCol="false" tIns="0" lIns="0" bIns="0" rIns="0">
            <a:spAutoFit/>
          </a:bodyPr>
          <a:lstStyle/>
          <a:p>
            <a:pPr algn="l">
              <a:lnSpc>
                <a:spcPts val="5179"/>
              </a:lnSpc>
              <a:spcBef>
                <a:spcPct val="0"/>
              </a:spcBef>
            </a:pPr>
            <a:r>
              <a:rPr lang="en-US" sz="3699" b="true">
                <a:solidFill>
                  <a:srgbClr val="474925"/>
                </a:solidFill>
                <a:latin typeface="Agrandir Bold"/>
                <a:ea typeface="Agrandir Bold"/>
                <a:cs typeface="Agrandir Bold"/>
                <a:sym typeface="Agrandir Bold"/>
              </a:rPr>
              <a:t>Why should a soil conservation office trust our analysis?</a:t>
            </a:r>
          </a:p>
          <a:p>
            <a:pPr algn="l">
              <a:lnSpc>
                <a:spcPts val="517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4EC"/>
        </a:solidFill>
      </p:bgPr>
    </p:bg>
    <p:spTree>
      <p:nvGrpSpPr>
        <p:cNvPr id="1" name=""/>
        <p:cNvGrpSpPr/>
        <p:nvPr/>
      </p:nvGrpSpPr>
      <p:grpSpPr>
        <a:xfrm>
          <a:off x="0" y="0"/>
          <a:ext cx="0" cy="0"/>
          <a:chOff x="0" y="0"/>
          <a:chExt cx="0" cy="0"/>
        </a:xfrm>
      </p:grpSpPr>
      <p:grpSp>
        <p:nvGrpSpPr>
          <p:cNvPr name="Group 2" id="2"/>
          <p:cNvGrpSpPr/>
          <p:nvPr/>
        </p:nvGrpSpPr>
        <p:grpSpPr>
          <a:xfrm rot="0">
            <a:off x="1414619" y="2410508"/>
            <a:ext cx="6515274" cy="5863394"/>
            <a:chOff x="0" y="0"/>
            <a:chExt cx="1009386" cy="908393"/>
          </a:xfrm>
        </p:grpSpPr>
        <p:sp>
          <p:nvSpPr>
            <p:cNvPr name="Freeform 3" id="3"/>
            <p:cNvSpPr/>
            <p:nvPr/>
          </p:nvSpPr>
          <p:spPr>
            <a:xfrm flipH="false" flipV="false" rot="0">
              <a:off x="0" y="0"/>
              <a:ext cx="1009386" cy="908393"/>
            </a:xfrm>
            <a:custGeom>
              <a:avLst/>
              <a:gdLst/>
              <a:ahLst/>
              <a:cxnLst/>
              <a:rect r="r" b="b" t="t" l="l"/>
              <a:pathLst>
                <a:path h="908393" w="1009386">
                  <a:moveTo>
                    <a:pt x="27330" y="0"/>
                  </a:moveTo>
                  <a:lnTo>
                    <a:pt x="982056" y="0"/>
                  </a:lnTo>
                  <a:cubicBezTo>
                    <a:pt x="989305" y="0"/>
                    <a:pt x="996256" y="2879"/>
                    <a:pt x="1001382" y="8005"/>
                  </a:cubicBezTo>
                  <a:cubicBezTo>
                    <a:pt x="1006507" y="13130"/>
                    <a:pt x="1009386" y="20082"/>
                    <a:pt x="1009386" y="27330"/>
                  </a:cubicBezTo>
                  <a:lnTo>
                    <a:pt x="1009386" y="881063"/>
                  </a:lnTo>
                  <a:cubicBezTo>
                    <a:pt x="1009386" y="888311"/>
                    <a:pt x="1006507" y="895263"/>
                    <a:pt x="1001382" y="900388"/>
                  </a:cubicBezTo>
                  <a:cubicBezTo>
                    <a:pt x="996256" y="905514"/>
                    <a:pt x="989305" y="908393"/>
                    <a:pt x="982056" y="908393"/>
                  </a:cubicBezTo>
                  <a:lnTo>
                    <a:pt x="27330" y="908393"/>
                  </a:lnTo>
                  <a:cubicBezTo>
                    <a:pt x="20082" y="908393"/>
                    <a:pt x="13130" y="905514"/>
                    <a:pt x="8005" y="900388"/>
                  </a:cubicBezTo>
                  <a:cubicBezTo>
                    <a:pt x="2879" y="895263"/>
                    <a:pt x="0" y="888311"/>
                    <a:pt x="0" y="881063"/>
                  </a:cubicBezTo>
                  <a:lnTo>
                    <a:pt x="0" y="27330"/>
                  </a:lnTo>
                  <a:cubicBezTo>
                    <a:pt x="0" y="20082"/>
                    <a:pt x="2879" y="13130"/>
                    <a:pt x="8005" y="8005"/>
                  </a:cubicBezTo>
                  <a:cubicBezTo>
                    <a:pt x="13130" y="2879"/>
                    <a:pt x="20082" y="0"/>
                    <a:pt x="27330" y="0"/>
                  </a:cubicBezTo>
                  <a:close/>
                </a:path>
              </a:pathLst>
            </a:custGeom>
            <a:blipFill>
              <a:blip r:embed="rId2"/>
              <a:stretch>
                <a:fillRect l="-17538" t="0" r="-17538" b="0"/>
              </a:stretch>
            </a:blipFill>
            <a:ln w="38100" cap="rnd">
              <a:solidFill>
                <a:srgbClr val="000000"/>
              </a:solidFill>
              <a:prstDash val="solid"/>
              <a:round/>
            </a:ln>
          </p:spPr>
        </p:sp>
      </p:grpSp>
      <p:sp>
        <p:nvSpPr>
          <p:cNvPr name="TextBox 4" id="4"/>
          <p:cNvSpPr txBox="true"/>
          <p:nvPr/>
        </p:nvSpPr>
        <p:spPr>
          <a:xfrm rot="0">
            <a:off x="8610600" y="2267633"/>
            <a:ext cx="9144000" cy="6510655"/>
          </a:xfrm>
          <a:prstGeom prst="rect">
            <a:avLst/>
          </a:prstGeom>
        </p:spPr>
        <p:txBody>
          <a:bodyPr anchor="t" rtlCol="false" tIns="0" lIns="0" bIns="0" rIns="0">
            <a:spAutoFit/>
          </a:bodyPr>
          <a:lstStyle/>
          <a:p>
            <a:pPr algn="just">
              <a:lnSpc>
                <a:spcPts val="3919"/>
              </a:lnSpc>
            </a:pPr>
            <a:r>
              <a:rPr lang="en-US" sz="2799" b="true">
                <a:solidFill>
                  <a:srgbClr val="706925"/>
                </a:solidFill>
                <a:latin typeface="Agrandir Bold"/>
                <a:ea typeface="Agrandir Bold"/>
                <a:cs typeface="Agrandir Bold"/>
                <a:sym typeface="Agrandir Bold"/>
              </a:rPr>
              <a:t>What the office does Monday morning:</a:t>
            </a:r>
          </a:p>
          <a:p>
            <a:pPr algn="just">
              <a:lnSpc>
                <a:spcPts val="3919"/>
              </a:lnSpc>
            </a:pPr>
            <a:r>
              <a:rPr lang="en-US" sz="2799">
                <a:solidFill>
                  <a:srgbClr val="706925"/>
                </a:solidFill>
                <a:latin typeface="Agrandir"/>
                <a:ea typeface="Agrandir"/>
                <a:cs typeface="Agrandir"/>
                <a:sym typeface="Agrandir"/>
              </a:rPr>
              <a:t>1. Pick the crop and set how many counties it can allocate resources to.</a:t>
            </a:r>
          </a:p>
          <a:p>
            <a:pPr algn="just">
              <a:lnSpc>
                <a:spcPts val="3919"/>
              </a:lnSpc>
            </a:pPr>
            <a:r>
              <a:rPr lang="en-US" sz="2799">
                <a:solidFill>
                  <a:srgbClr val="706925"/>
                </a:solidFill>
                <a:latin typeface="Agrandir"/>
                <a:ea typeface="Agrandir"/>
                <a:cs typeface="Agrandir"/>
                <a:sym typeface="Agrandir"/>
              </a:rPr>
              <a:t>2. Start outreach in the standard-confidence counties; verify the lower-confidence ones locally first.</a:t>
            </a:r>
          </a:p>
          <a:p>
            <a:pPr algn="just">
              <a:lnSpc>
                <a:spcPts val="3919"/>
              </a:lnSpc>
            </a:pPr>
            <a:r>
              <a:rPr lang="en-US" sz="2799">
                <a:solidFill>
                  <a:srgbClr val="706925"/>
                </a:solidFill>
                <a:latin typeface="Agrandir"/>
                <a:ea typeface="Agrandir"/>
                <a:cs typeface="Agrandir"/>
                <a:sym typeface="Agrandir"/>
              </a:rPr>
              <a:t>3. Click any county for its drought record, soil and current practices.</a:t>
            </a:r>
          </a:p>
          <a:p>
            <a:pPr algn="just">
              <a:lnSpc>
                <a:spcPts val="3919"/>
              </a:lnSpc>
            </a:pPr>
          </a:p>
          <a:p>
            <a:pPr algn="just">
              <a:lnSpc>
                <a:spcPts val="3919"/>
              </a:lnSpc>
            </a:pPr>
            <a:r>
              <a:rPr lang="en-US" sz="2799" b="true">
                <a:solidFill>
                  <a:srgbClr val="706925"/>
                </a:solidFill>
                <a:latin typeface="Agrandir Bold"/>
                <a:ea typeface="Agrandir Bold"/>
                <a:cs typeface="Agrandir Bold"/>
                <a:sym typeface="Agrandir Bold"/>
              </a:rPr>
              <a:t>One engine, two faces:</a:t>
            </a:r>
          </a:p>
          <a:p>
            <a:pPr algn="just">
              <a:lnSpc>
                <a:spcPts val="3919"/>
              </a:lnSpc>
              <a:spcBef>
                <a:spcPct val="0"/>
              </a:spcBef>
            </a:pPr>
            <a:r>
              <a:rPr lang="en-US" sz="2799">
                <a:solidFill>
                  <a:srgbClr val="706925"/>
                </a:solidFill>
                <a:latin typeface="Agrandir"/>
                <a:ea typeface="Agrandir"/>
                <a:cs typeface="Agrandir"/>
                <a:sym typeface="Agrandir"/>
              </a:rPr>
              <a:t>The app and the report notebook call the same code, so they can never disagree. Everything is reproducible from the repo.</a:t>
            </a:r>
          </a:p>
          <a:p>
            <a:pPr algn="just">
              <a:lnSpc>
                <a:spcPts val="3919"/>
              </a:lnSpc>
              <a:spcBef>
                <a:spcPct val="0"/>
              </a:spcBef>
            </a:pPr>
          </a:p>
        </p:txBody>
      </p:sp>
      <p:sp>
        <p:nvSpPr>
          <p:cNvPr name="Freeform 5" id="5"/>
          <p:cNvSpPr/>
          <p:nvPr/>
        </p:nvSpPr>
        <p:spPr>
          <a:xfrm flipH="false" flipV="false" rot="0">
            <a:off x="1479110" y="779771"/>
            <a:ext cx="123763" cy="184471"/>
          </a:xfrm>
          <a:custGeom>
            <a:avLst/>
            <a:gdLst/>
            <a:ahLst/>
            <a:cxnLst/>
            <a:rect r="r" b="b" t="t" l="l"/>
            <a:pathLst>
              <a:path h="184471" w="123763">
                <a:moveTo>
                  <a:pt x="0" y="0"/>
                </a:moveTo>
                <a:lnTo>
                  <a:pt x="123763" y="0"/>
                </a:lnTo>
                <a:lnTo>
                  <a:pt x="123763" y="184471"/>
                </a:lnTo>
                <a:lnTo>
                  <a:pt x="0" y="1844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414619" y="849942"/>
            <a:ext cx="3462496" cy="882345"/>
          </a:xfrm>
          <a:prstGeom prst="rect">
            <a:avLst/>
          </a:prstGeom>
        </p:spPr>
        <p:txBody>
          <a:bodyPr anchor="t" rtlCol="false" tIns="0" lIns="0" bIns="0" rIns="0">
            <a:spAutoFit/>
          </a:bodyPr>
          <a:lstStyle/>
          <a:p>
            <a:pPr algn="l">
              <a:lnSpc>
                <a:spcPts val="3269"/>
              </a:lnSpc>
            </a:pPr>
            <a:r>
              <a:rPr lang="en-US" sz="2335" b="true">
                <a:solidFill>
                  <a:srgbClr val="706925"/>
                </a:solidFill>
                <a:latin typeface="Agrandir Bold"/>
                <a:ea typeface="Agrandir Bold"/>
                <a:cs typeface="Agrandir Bold"/>
                <a:sym typeface="Agrandir Bold"/>
              </a:rPr>
              <a:t>DSU Hackathon 2026</a:t>
            </a:r>
          </a:p>
          <a:p>
            <a:pPr algn="l">
              <a:lnSpc>
                <a:spcPts val="3269"/>
              </a:lnSpc>
              <a:spcBef>
                <a:spcPct val="0"/>
              </a:spcBef>
            </a:pPr>
          </a:p>
        </p:txBody>
      </p:sp>
      <p:sp>
        <p:nvSpPr>
          <p:cNvPr name="TextBox 7" id="7"/>
          <p:cNvSpPr txBox="true"/>
          <p:nvPr/>
        </p:nvSpPr>
        <p:spPr>
          <a:xfrm rot="0">
            <a:off x="1414619" y="1124344"/>
            <a:ext cx="1760696" cy="468663"/>
          </a:xfrm>
          <a:prstGeom prst="rect">
            <a:avLst/>
          </a:prstGeom>
        </p:spPr>
        <p:txBody>
          <a:bodyPr anchor="t" rtlCol="false" tIns="0" lIns="0" bIns="0" rIns="0">
            <a:spAutoFit/>
          </a:bodyPr>
          <a:lstStyle/>
          <a:p>
            <a:pPr algn="l">
              <a:lnSpc>
                <a:spcPts val="3269"/>
              </a:lnSpc>
              <a:spcBef>
                <a:spcPct val="0"/>
              </a:spcBef>
            </a:pPr>
            <a:r>
              <a:rPr lang="en-US" sz="2335">
                <a:solidFill>
                  <a:srgbClr val="706925"/>
                </a:solidFill>
                <a:latin typeface="Agrandir"/>
                <a:ea typeface="Agrandir"/>
                <a:cs typeface="Agrandir"/>
                <a:sym typeface="Agrandir"/>
              </a:rPr>
              <a:t>Team Shark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766210" y="3110097"/>
            <a:ext cx="15045522" cy="5193887"/>
            <a:chOff x="0" y="0"/>
            <a:chExt cx="3962607" cy="1367937"/>
          </a:xfrm>
        </p:grpSpPr>
        <p:sp>
          <p:nvSpPr>
            <p:cNvPr name="Freeform 4" id="4"/>
            <p:cNvSpPr/>
            <p:nvPr/>
          </p:nvSpPr>
          <p:spPr>
            <a:xfrm flipH="false" flipV="false" rot="0">
              <a:off x="0" y="0"/>
              <a:ext cx="3962607" cy="1367937"/>
            </a:xfrm>
            <a:custGeom>
              <a:avLst/>
              <a:gdLst/>
              <a:ahLst/>
              <a:cxnLst/>
              <a:rect r="r" b="b" t="t" l="l"/>
              <a:pathLst>
                <a:path h="1367937" w="3962607">
                  <a:moveTo>
                    <a:pt x="13379" y="0"/>
                  </a:moveTo>
                  <a:lnTo>
                    <a:pt x="3949228" y="0"/>
                  </a:lnTo>
                  <a:cubicBezTo>
                    <a:pt x="3956617" y="0"/>
                    <a:pt x="3962607" y="5990"/>
                    <a:pt x="3962607" y="13379"/>
                  </a:cubicBezTo>
                  <a:lnTo>
                    <a:pt x="3962607" y="1354559"/>
                  </a:lnTo>
                  <a:cubicBezTo>
                    <a:pt x="3962607" y="1361947"/>
                    <a:pt x="3956617" y="1367937"/>
                    <a:pt x="3949228" y="1367937"/>
                  </a:cubicBezTo>
                  <a:lnTo>
                    <a:pt x="13379" y="1367937"/>
                  </a:lnTo>
                  <a:cubicBezTo>
                    <a:pt x="5990" y="1367937"/>
                    <a:pt x="0" y="1361947"/>
                    <a:pt x="0" y="1354559"/>
                  </a:cubicBezTo>
                  <a:lnTo>
                    <a:pt x="0" y="13379"/>
                  </a:lnTo>
                  <a:cubicBezTo>
                    <a:pt x="0" y="5990"/>
                    <a:pt x="5990" y="0"/>
                    <a:pt x="13379" y="0"/>
                  </a:cubicBezTo>
                  <a:close/>
                </a:path>
              </a:pathLst>
            </a:custGeom>
            <a:gradFill rotWithShape="true">
              <a:gsLst>
                <a:gs pos="0">
                  <a:srgbClr val="504F28">
                    <a:alpha val="15000"/>
                  </a:srgbClr>
                </a:gs>
                <a:gs pos="100000">
                  <a:srgbClr val="474526">
                    <a:alpha val="48500"/>
                  </a:srgbClr>
                </a:gs>
              </a:gsLst>
              <a:lin ang="0"/>
            </a:gradFill>
            <a:ln w="38100" cap="rnd">
              <a:solidFill>
                <a:srgbClr val="FFFFFF"/>
              </a:solidFill>
              <a:prstDash val="solid"/>
              <a:round/>
            </a:ln>
          </p:spPr>
        </p:sp>
        <p:sp>
          <p:nvSpPr>
            <p:cNvPr name="TextBox 5" id="5"/>
            <p:cNvSpPr txBox="true"/>
            <p:nvPr/>
          </p:nvSpPr>
          <p:spPr>
            <a:xfrm>
              <a:off x="0" y="-85725"/>
              <a:ext cx="3962607" cy="1453662"/>
            </a:xfrm>
            <a:prstGeom prst="rect">
              <a:avLst/>
            </a:prstGeom>
          </p:spPr>
          <p:txBody>
            <a:bodyPr anchor="ctr" rtlCol="false" tIns="50800" lIns="50800" bIns="50800" rIns="50800"/>
            <a:lstStyle/>
            <a:p>
              <a:pPr algn="ctr">
                <a:lnSpc>
                  <a:spcPts val="2523"/>
                </a:lnSpc>
              </a:pPr>
            </a:p>
          </p:txBody>
        </p:sp>
      </p:grpSp>
      <p:sp>
        <p:nvSpPr>
          <p:cNvPr name="TextBox 6" id="6"/>
          <p:cNvSpPr txBox="true"/>
          <p:nvPr/>
        </p:nvSpPr>
        <p:spPr>
          <a:xfrm rot="0">
            <a:off x="3246720" y="3324444"/>
            <a:ext cx="12084501" cy="4222269"/>
          </a:xfrm>
          <a:prstGeom prst="rect">
            <a:avLst/>
          </a:prstGeom>
        </p:spPr>
        <p:txBody>
          <a:bodyPr anchor="t" rtlCol="false" tIns="0" lIns="0" bIns="0" rIns="0">
            <a:spAutoFit/>
          </a:bodyPr>
          <a:lstStyle/>
          <a:p>
            <a:pPr algn="ctr">
              <a:lnSpc>
                <a:spcPts val="15601"/>
              </a:lnSpc>
              <a:spcBef>
                <a:spcPct val="0"/>
              </a:spcBef>
            </a:pPr>
            <a:r>
              <a:rPr lang="en-US" b="true" sz="11143">
                <a:solidFill>
                  <a:srgbClr val="FFFFFF"/>
                </a:solidFill>
                <a:latin typeface="Agrandir Bold"/>
                <a:ea typeface="Agrandir Bold"/>
                <a:cs typeface="Agrandir Bold"/>
                <a:sym typeface="Agrandir Bold"/>
              </a:rPr>
              <a:t>Let’s now start our live demo</a:t>
            </a:r>
          </a:p>
        </p:txBody>
      </p:sp>
      <p:sp>
        <p:nvSpPr>
          <p:cNvPr name="Freeform 7" id="7"/>
          <p:cNvSpPr/>
          <p:nvPr/>
        </p:nvSpPr>
        <p:spPr>
          <a:xfrm flipH="false" flipV="false" rot="0">
            <a:off x="1830700" y="1339842"/>
            <a:ext cx="123763" cy="184471"/>
          </a:xfrm>
          <a:custGeom>
            <a:avLst/>
            <a:gdLst/>
            <a:ahLst/>
            <a:cxnLst/>
            <a:rect r="r" b="b" t="t" l="l"/>
            <a:pathLst>
              <a:path h="184471" w="123763">
                <a:moveTo>
                  <a:pt x="0" y="0"/>
                </a:moveTo>
                <a:lnTo>
                  <a:pt x="123764" y="0"/>
                </a:lnTo>
                <a:lnTo>
                  <a:pt x="123764" y="184471"/>
                </a:lnTo>
                <a:lnTo>
                  <a:pt x="0" y="1844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766210" y="1410013"/>
            <a:ext cx="3462496" cy="882345"/>
          </a:xfrm>
          <a:prstGeom prst="rect">
            <a:avLst/>
          </a:prstGeom>
        </p:spPr>
        <p:txBody>
          <a:bodyPr anchor="t" rtlCol="false" tIns="0" lIns="0" bIns="0" rIns="0">
            <a:spAutoFit/>
          </a:bodyPr>
          <a:lstStyle/>
          <a:p>
            <a:pPr algn="l">
              <a:lnSpc>
                <a:spcPts val="3269"/>
              </a:lnSpc>
            </a:pPr>
            <a:r>
              <a:rPr lang="en-US" sz="2335" b="true">
                <a:solidFill>
                  <a:srgbClr val="FFFFFF"/>
                </a:solidFill>
                <a:latin typeface="Agrandir Bold"/>
                <a:ea typeface="Agrandir Bold"/>
                <a:cs typeface="Agrandir Bold"/>
                <a:sym typeface="Agrandir Bold"/>
              </a:rPr>
              <a:t>DSU Hackathon 2026</a:t>
            </a:r>
          </a:p>
          <a:p>
            <a:pPr algn="l">
              <a:lnSpc>
                <a:spcPts val="3269"/>
              </a:lnSpc>
              <a:spcBef>
                <a:spcPct val="0"/>
              </a:spcBef>
            </a:pPr>
          </a:p>
        </p:txBody>
      </p:sp>
      <p:sp>
        <p:nvSpPr>
          <p:cNvPr name="TextBox 9" id="9"/>
          <p:cNvSpPr txBox="true"/>
          <p:nvPr/>
        </p:nvSpPr>
        <p:spPr>
          <a:xfrm rot="0">
            <a:off x="1766210" y="1684415"/>
            <a:ext cx="1760696" cy="468663"/>
          </a:xfrm>
          <a:prstGeom prst="rect">
            <a:avLst/>
          </a:prstGeom>
        </p:spPr>
        <p:txBody>
          <a:bodyPr anchor="t" rtlCol="false" tIns="0" lIns="0" bIns="0" rIns="0">
            <a:spAutoFit/>
          </a:bodyPr>
          <a:lstStyle/>
          <a:p>
            <a:pPr algn="l">
              <a:lnSpc>
                <a:spcPts val="3269"/>
              </a:lnSpc>
              <a:spcBef>
                <a:spcPct val="0"/>
              </a:spcBef>
            </a:pPr>
            <a:r>
              <a:rPr lang="en-US" sz="2335">
                <a:solidFill>
                  <a:srgbClr val="FFFFFF"/>
                </a:solidFill>
                <a:latin typeface="Agrandir"/>
                <a:ea typeface="Agrandir"/>
                <a:cs typeface="Agrandir"/>
                <a:sym typeface="Agrandir"/>
              </a:rPr>
              <a:t>Team Shark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57288" y="1028700"/>
            <a:ext cx="17573424" cy="7973941"/>
          </a:xfrm>
          <a:custGeom>
            <a:avLst/>
            <a:gdLst/>
            <a:ahLst/>
            <a:cxnLst/>
            <a:rect r="r" b="b" t="t" l="l"/>
            <a:pathLst>
              <a:path h="7973941" w="17573424">
                <a:moveTo>
                  <a:pt x="0" y="0"/>
                </a:moveTo>
                <a:lnTo>
                  <a:pt x="17573424" y="0"/>
                </a:lnTo>
                <a:lnTo>
                  <a:pt x="17573424" y="7973941"/>
                </a:lnTo>
                <a:lnTo>
                  <a:pt x="0" y="7973941"/>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DAHYU8chX5E</dc:identifier>
  <dcterms:modified xsi:type="dcterms:W3CDTF">2011-08-01T06:04:30Z</dcterms:modified>
  <cp:revision>1</cp:revision>
  <dc:title>DSU Hackathon 2026</dc:title>
</cp:coreProperties>
</file>